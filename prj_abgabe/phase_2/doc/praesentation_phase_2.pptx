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 min; insgesamt 20 min plus Fragerunde.</a:t>
            </a:r>
          </a:p>
          <a:p/>
          <a:p>
            <a:r>
              <a:t>Phase II kurz einordnen: Die Anzeige aus Phase I wird wiederverwendet, die Ereignisquelle wird automatisch. Der kombinierte Bericht deckt Phase I und II ab. Der Wecker ist eine separate dritte Phase.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image5.png als Anforderungsquelle nennen. Fuehrende Null ist eine bewusste Darstellungsentscheidung. Der Zaehler laeuft nach Resetfreigabe ohne Starttaste. Reset darf keinen Rest der alten Sekundenphase behalten.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Kurz die Grundlagen wiederholen, aber nicht die gesamte erste Praesentation wiederholen. Klarstellen, dass die Basismodule lokale Kopien sind und kein Zugriff auf prj_final noetig 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Die Architektur erklaeren und zwischen Clock-Enable und neuer Taktdomaene unterscheiden. Der Display-Refresh laeuft unabhaengig von der Sekundenbedingung weiter. Ein langsamer Zaehler bedeutet keine langsame Anzeige.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2 min; insgesamt 20 min plus Fragerunde.</a:t>
            </a:r>
          </a:p>
          <a:p/>
          <a:p>
            <a:r>
              <a:t>Die Endwertrechnung zeigen. Den klassischen Off-by-one-Fehler ansprechen: Ein Bereich bis 100 Millionen haette einen Takt zu viel. 27 Bits reichen fuer den Teiler. Die reale Genauigkeit haengt am Oszillator.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Resetfreigabe ueber zwei Register erlaeutern. Ein Reset nach halber Sekunde soll nicht nach der anderen Haelfte schon weiterzaehlen. Das naechste Inkrement folgt nach einem vollen neuen Intervall. Der Fachzustand reagiert am Systemtakt.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Die Grenzen sind Teil des Entwurfs. Reset dominiert die Endwertbedingung. Die Entscheidung im Prozess liest den bisherigen Zaehlerwert, bevor die Signalzuweisung nach der Flanke wirksam wird.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Beispiele 9, 10, 59 und 99 gemeinsam durchgehen. Division durch die Konstante Zehn ist kombinatorische Logik. Beide Stellen stammen aus demselben Zahlenregister und gehen an den bekannten SSD-Treiber.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Refresh und Zaehlerfrequenz unterscheiden. Die Anzeige hat ein 2-ms-Vollbild, waehrend count eine Sekunde konstant bleibt. Deshalb muss der Anzeigetreiber auch ohne Zaehlerwechsel weiterlaufen.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Beschleunigung begruenden: zehn Milliarden Takte fuer den echten Umlauf waeren unnoetig teuer. Die Testbench berechnet elapsed/1000 mod 100 und prueft das Segmentmuster des aktuellen Slots. Die kleinen Parameter aendern nicht die Umlaufregel.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Die Laufstrecke von 101357 Takten und die zweite mit 2000 Takten erklaeren. Beobachtungsflags pruefen beide Stellen. Ein reiner Zaehlerwertvergleich wuerde einen defekten Decoder nicht erkennen; hier werden die Ausgaenge geprueft.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1.5 min; insgesamt 20 min plus Fragerunde.</a:t>
            </a:r>
          </a:p>
          <a:p/>
          <a:p>
            <a:r>
              <a:t>Ausgabe aus sim/testergebnis.txt zeigen. Weder elektrische LED-Helligkeit noch Oszillatortoleranz folgen aus einer RTL-Simulation. Vivado ist hier nicht verfuegbar; es werden keine erfundenen Ressourcenwerte praesentiert.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 min; insgesamt 20 min plus Fragerunde.</a:t>
            </a:r>
          </a:p>
          <a:p/>
          <a:p>
            <a:r>
              <a:t>Nur mit angeschlossenem Board eine echte Demonstration durchfuehren. Fuer 99-&gt;00 ausreichend Beobachtungszeit einplanen. Datum, Bitstream, Board und Messverfahren dokumentieren. Bei Problemen eine Hypothese nach der anderen pruefen.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Zeitbudget: 1 min; insgesamt 20 min plus Fragerunde.</a:t>
            </a:r>
          </a:p>
          <a:p/>
          <a:p>
            <a:r>
              <a:t>Die Entwicklung zusammenfassen. Phase III hat 29 hashgleich kopierte Dateien; das ist ein Integritaetsnachweis und kein neuer Funktionstest. Quellen sind Aufgabenbilder, Digilent-Dokumentation und GHDL, mit URLs im Bericht. Anschliessend Fragerunde.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Sekundenzaehler 00 bis 99</a:t>
            </a:r>
          </a:p>
        </p:txBody>
      </p:sp>
      <p:sp>
        <p:nvSpPr>
          <p:cNvPr id="5" name="TextBox 4"/>
          <p:cNvSpPr txBox="1"/>
          <p:nvPr/>
        </p:nvSpPr>
        <p:spPr>
          <a:xfrm>
            <a:off x="640080" y="2011680"/>
            <a:ext cx="10607040" cy="1874519"/>
          </a:xfrm>
          <a:prstGeom prst="rect">
            <a:avLst/>
          </a:prstGeom>
          <a:noFill/>
        </p:spPr>
        <p:txBody>
          <a:bodyPr wrap="square" lIns="27432" rIns="27432" tIns="18288" bIns="18288">
            <a:spAutoFit/>
          </a:bodyPr>
          <a:lstStyle/>
          <a:p>
            <a:pPr>
              <a:spcAft>
                <a:spcPts val="1200"/>
              </a:spcAft>
              <a:defRPr sz="2300" b="0">
                <a:solidFill>
                  <a:srgbClr val="20272B"/>
                </a:solidFill>
                <a:latin typeface="Calibri"/>
              </a:defRPr>
            </a:pPr>
            <a:r>
              <a:t>Phase II | Arty A7-35T + Pmod SSD</a:t>
            </a:r>
          </a:p>
          <a:p>
            <a:pPr>
              <a:spcAft>
                <a:spcPts val="1200"/>
              </a:spcAft>
              <a:defRPr sz="2300" b="0">
                <a:solidFill>
                  <a:srgbClr val="20272B"/>
                </a:solidFill>
                <a:latin typeface="Calibri"/>
              </a:defRPr>
            </a:pPr>
            <a:r>
              <a:t>Automatischer Umlauf, Reset per Taster</a:t>
            </a:r>
          </a:p>
          <a:p>
            <a:pPr>
              <a:spcAft>
                <a:spcPts val="1200"/>
              </a:spcAft>
              <a:defRPr sz="2300" b="0">
                <a:solidFill>
                  <a:srgbClr val="20272B"/>
                </a:solidFill>
                <a:latin typeface="Calibri"/>
              </a:defRPr>
            </a:pPr>
            <a:r>
              <a:t>Autor / Gruppe: noch zu ergaenzen</a:t>
            </a:r>
          </a:p>
        </p:txBody>
      </p:sp>
      <p:pic>
        <p:nvPicPr>
          <p:cNvPr id="6" name="Picture 5" descr="block_phase2.png"/>
          <p:cNvPicPr>
            <a:picLocks noChangeAspect="1"/>
          </p:cNvPicPr>
          <p:nvPr/>
        </p:nvPicPr>
        <p:blipFill>
          <a:blip r:embed="rId2"/>
          <a:stretch>
            <a:fillRect/>
          </a:stretch>
        </p:blipFill>
        <p:spPr>
          <a:xfrm>
            <a:off x="777240" y="3886200"/>
            <a:ext cx="10607040" cy="2423160"/>
          </a:xfrm>
          <a:prstGeom prst="rect">
            <a:avLst/>
          </a:prstGeom>
        </p:spPr>
      </p:pic>
      <p:sp>
        <p:nvSpPr>
          <p:cNvPr id="7" name="TextBox 6"/>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8" name="TextBox 7"/>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Was die Aufgabe fordert</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Ein Schritt pro Sekunde von 00 bis 99</a:t>
            </a:r>
          </a:p>
          <a:p>
            <a:pPr>
              <a:spcAft>
                <a:spcPts val="1200"/>
              </a:spcAft>
              <a:defRPr sz="2700" b="0">
                <a:solidFill>
                  <a:srgbClr val="20272B"/>
                </a:solidFill>
                <a:latin typeface="Calibri"/>
              </a:defRPr>
            </a:pPr>
            <a:r>
              <a:t>Nach 99 wieder 00</a:t>
            </a:r>
          </a:p>
          <a:p>
            <a:pPr>
              <a:spcAft>
                <a:spcPts val="1200"/>
              </a:spcAft>
              <a:defRPr sz="2700" b="0">
                <a:solidFill>
                  <a:srgbClr val="20272B"/>
                </a:solidFill>
                <a:latin typeface="Calibri"/>
              </a:defRPr>
            </a:pPr>
            <a:r>
              <a:t>Reset setzt Zahlenstand und Zeitbasis zurueck</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Gepruefte Basis aus Phase I</a:t>
            </a:r>
          </a:p>
        </p:txBody>
      </p:sp>
      <p:sp>
        <p:nvSpPr>
          <p:cNvPr id="5" name="TextBox 4"/>
          <p:cNvSpPr txBox="1"/>
          <p:nvPr/>
        </p:nvSpPr>
        <p:spPr>
          <a:xfrm>
            <a:off x="640080" y="2011680"/>
            <a:ext cx="10607040" cy="1874519"/>
          </a:xfrm>
          <a:prstGeom prst="rect">
            <a:avLst/>
          </a:prstGeom>
          <a:noFill/>
        </p:spPr>
        <p:txBody>
          <a:bodyPr wrap="square" lIns="27432" rIns="27432" tIns="18288" bIns="18288">
            <a:spAutoFit/>
          </a:bodyPr>
          <a:lstStyle/>
          <a:p>
            <a:pPr>
              <a:spcAft>
                <a:spcPts val="1200"/>
              </a:spcAft>
              <a:defRPr sz="2300" b="0">
                <a:solidFill>
                  <a:srgbClr val="20272B"/>
                </a:solidFill>
                <a:latin typeface="Calibri"/>
              </a:defRPr>
            </a:pPr>
            <a:r>
              <a:t>Aktiv-High-Segmente in gfedcba-Reihenfolge</a:t>
            </a:r>
          </a:p>
          <a:p>
            <a:pPr>
              <a:spcAft>
                <a:spcPts val="1200"/>
              </a:spcAft>
              <a:defRPr sz="2300" b="0">
                <a:solidFill>
                  <a:srgbClr val="20272B"/>
                </a:solidFill>
                <a:latin typeface="Calibri"/>
              </a:defRPr>
            </a:pPr>
            <a:r>
              <a:t>JA/JB: identische Verdrahtung</a:t>
            </a:r>
          </a:p>
          <a:p>
            <a:pPr>
              <a:spcAft>
                <a:spcPts val="1200"/>
              </a:spcAft>
              <a:defRPr sz="2300" b="0">
                <a:solidFill>
                  <a:srgbClr val="20272B"/>
                </a:solidFill>
                <a:latin typeface="Calibri"/>
              </a:defRPr>
            </a:pPr>
            <a:r>
              <a:t>ssd_driver und Decoder unveraendert</a:t>
            </a:r>
          </a:p>
        </p:txBody>
      </p:sp>
      <p:pic>
        <p:nvPicPr>
          <p:cNvPr id="6" name="Picture 5" descr="segments.png"/>
          <p:cNvPicPr>
            <a:picLocks noChangeAspect="1"/>
          </p:cNvPicPr>
          <p:nvPr/>
        </p:nvPicPr>
        <p:blipFill>
          <a:blip r:embed="rId2"/>
          <a:stretch>
            <a:fillRect/>
          </a:stretch>
        </p:blipFill>
        <p:spPr>
          <a:xfrm>
            <a:off x="777240" y="3886200"/>
            <a:ext cx="10607040" cy="2423160"/>
          </a:xfrm>
          <a:prstGeom prst="rect">
            <a:avLst/>
          </a:prstGeom>
        </p:spPr>
      </p:pic>
      <p:sp>
        <p:nvSpPr>
          <p:cNvPr id="7" name="TextBox 6"/>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8" name="TextBox 7"/>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Ein gemeinsamer Systemtakt</a:t>
            </a:r>
          </a:p>
        </p:txBody>
      </p:sp>
      <p:sp>
        <p:nvSpPr>
          <p:cNvPr id="5" name="TextBox 4"/>
          <p:cNvSpPr txBox="1"/>
          <p:nvPr/>
        </p:nvSpPr>
        <p:spPr>
          <a:xfrm>
            <a:off x="640080" y="2011680"/>
            <a:ext cx="10607040" cy="1874519"/>
          </a:xfrm>
          <a:prstGeom prst="rect">
            <a:avLst/>
          </a:prstGeom>
          <a:noFill/>
        </p:spPr>
        <p:txBody>
          <a:bodyPr wrap="square" lIns="27432" rIns="27432" tIns="18288" bIns="18288">
            <a:spAutoFit/>
          </a:bodyPr>
          <a:lstStyle/>
          <a:p>
            <a:pPr>
              <a:spcAft>
                <a:spcPts val="1200"/>
              </a:spcAft>
              <a:defRPr sz="2300" b="0">
                <a:solidFill>
                  <a:srgbClr val="20272B"/>
                </a:solidFill>
                <a:latin typeface="Calibri"/>
              </a:defRPr>
            </a:pPr>
            <a:r>
              <a:t>100 MHz takten alle Register</a:t>
            </a:r>
          </a:p>
          <a:p>
            <a:pPr>
              <a:spcAft>
                <a:spcPts val="1200"/>
              </a:spcAft>
              <a:defRPr sz="2300" b="0">
                <a:solidFill>
                  <a:srgbClr val="20272B"/>
                </a:solidFill>
                <a:latin typeface="Calibri"/>
              </a:defRPr>
            </a:pPr>
            <a:r>
              <a:t>Sekundenereignis ist eine Enable-Bedingung</a:t>
            </a:r>
          </a:p>
          <a:p>
            <a:pPr>
              <a:spcAft>
                <a:spcPts val="1200"/>
              </a:spcAft>
              <a:defRPr sz="2300" b="0">
                <a:solidFill>
                  <a:srgbClr val="20272B"/>
                </a:solidFill>
                <a:latin typeface="Calibri"/>
              </a:defRPr>
            </a:pPr>
            <a:r>
              <a:t>Kein abgeleiteter 1-Hz-Logiktakt</a:t>
            </a:r>
          </a:p>
        </p:txBody>
      </p:sp>
      <p:pic>
        <p:nvPicPr>
          <p:cNvPr id="6" name="Picture 5" descr="block_phase2.png"/>
          <p:cNvPicPr>
            <a:picLocks noChangeAspect="1"/>
          </p:cNvPicPr>
          <p:nvPr/>
        </p:nvPicPr>
        <p:blipFill>
          <a:blip r:embed="rId2"/>
          <a:stretch>
            <a:fillRect/>
          </a:stretch>
        </p:blipFill>
        <p:spPr>
          <a:xfrm>
            <a:off x="777240" y="3886200"/>
            <a:ext cx="10607040" cy="2423160"/>
          </a:xfrm>
          <a:prstGeom prst="rect">
            <a:avLst/>
          </a:prstGeom>
        </p:spPr>
      </p:pic>
      <p:sp>
        <p:nvSpPr>
          <p:cNvPr id="7" name="TextBox 6"/>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8" name="TextBox 7"/>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Von 100 MHz zu einer Sekunde</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100.000.000 Takte pro Schritt</a:t>
            </a:r>
          </a:p>
          <a:p>
            <a:pPr>
              <a:spcAft>
                <a:spcPts val="1200"/>
              </a:spcAft>
              <a:defRPr sz="2700" b="0">
                <a:solidFill>
                  <a:srgbClr val="20272B"/>
                </a:solidFill>
                <a:latin typeface="Calibri"/>
              </a:defRPr>
            </a:pPr>
            <a:r>
              <a:t>Teilerbereich 0 ... 99.999.999</a:t>
            </a:r>
          </a:p>
          <a:p>
            <a:pPr>
              <a:spcAft>
                <a:spcPts val="1200"/>
              </a:spcAft>
              <a:defRPr sz="2700" b="0">
                <a:solidFill>
                  <a:srgbClr val="20272B"/>
                </a:solidFill>
                <a:latin typeface="Calibri"/>
              </a:defRPr>
            </a:pPr>
            <a:r>
              <a:t>T_step = 100.000.000 x 10 ns = 1 s</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Reset startet ein neues Intervall</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ck_rst ist aktiv Low</a:t>
            </a:r>
          </a:p>
          <a:p>
            <a:pPr>
              <a:spcAft>
                <a:spcPts val="1200"/>
              </a:spcAft>
              <a:defRPr sz="2700" b="0">
                <a:solidFill>
                  <a:srgbClr val="20272B"/>
                </a:solidFill>
                <a:latin typeface="Calibri"/>
              </a:defRPr>
            </a:pPr>
            <a:r>
              <a:t>Asynchron anfordern, synchron freigeben</a:t>
            </a:r>
          </a:p>
          <a:p>
            <a:pPr>
              <a:spcAft>
                <a:spcPts val="1200"/>
              </a:spcAft>
              <a:defRPr sz="2700" b="0">
                <a:solidFill>
                  <a:srgbClr val="20272B"/>
                </a:solidFill>
                <a:latin typeface="Calibri"/>
              </a:defRPr>
            </a:pPr>
            <a:r>
              <a:t>Zahl und Teiler gemeinsam auf 0</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00 ... 99 als klarer Zustandsraum</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count: natural range 0 to 99</a:t>
            </a:r>
          </a:p>
          <a:p>
            <a:pPr>
              <a:spcAft>
                <a:spcPts val="1200"/>
              </a:spcAft>
              <a:defRPr sz="2700" b="0">
                <a:solidFill>
                  <a:srgbClr val="20272B"/>
                </a:solidFill>
                <a:latin typeface="Calibri"/>
              </a:defRPr>
            </a:pPr>
            <a:r>
              <a:t>Am Sekundenereignis: +1 oder 99 -&gt; 0</a:t>
            </a:r>
          </a:p>
          <a:p>
            <a:pPr>
              <a:spcAft>
                <a:spcPts val="1200"/>
              </a:spcAft>
              <a:defRPr sz="2700" b="0">
                <a:solidFill>
                  <a:srgbClr val="20272B"/>
                </a:solidFill>
                <a:latin typeface="Calibri"/>
              </a:defRPr>
            </a:pPr>
            <a:r>
              <a:t>Kein ungueltiger Zustand 100</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Eine Zahl, zwei Dezimalstellen</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Einer = count mod 10</a:t>
            </a:r>
          </a:p>
          <a:p>
            <a:pPr>
              <a:spcAft>
                <a:spcPts val="1200"/>
              </a:spcAft>
              <a:defRPr sz="2700" b="0">
                <a:solidFill>
                  <a:srgbClr val="20272B"/>
                </a:solidFill>
                <a:latin typeface="Calibri"/>
              </a:defRPr>
            </a:pPr>
            <a:r>
              <a:t>Zehner = count / 10</a:t>
            </a:r>
          </a:p>
          <a:p>
            <a:pPr>
              <a:spcAft>
                <a:spcPts val="1200"/>
              </a:spcAft>
              <a:defRPr sz="2700" b="0">
                <a:solidFill>
                  <a:srgbClr val="20272B"/>
                </a:solidFill>
                <a:latin typeface="Calibri"/>
              </a:defRPr>
            </a:pPr>
            <a:r>
              <a:t>09 -&gt; 10 aktualisiert beide Stellen</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Anzeige und Zeitbasis sind unabhaengig</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1-ms-Slots fuer die Anzeige</a:t>
            </a:r>
          </a:p>
          <a:p>
            <a:pPr>
              <a:spcAft>
                <a:spcPts val="1200"/>
              </a:spcAft>
              <a:defRPr sz="2700" b="0">
                <a:solidFill>
                  <a:srgbClr val="20272B"/>
                </a:solidFill>
                <a:latin typeface="Calibri"/>
              </a:defRPr>
            </a:pPr>
            <a:r>
              <a:t>1-s-Intervall fuer den Zaehler</a:t>
            </a:r>
          </a:p>
          <a:p>
            <a:pPr>
              <a:spcAft>
                <a:spcPts val="1200"/>
              </a:spcAft>
              <a:defRPr sz="2700" b="0">
                <a:solidFill>
                  <a:srgbClr val="20272B"/>
                </a:solidFill>
                <a:latin typeface="Calibri"/>
              </a:defRPr>
            </a:pPr>
            <a:r>
              <a:t>Beide Ziffern werden kontinuierlich erneuert</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101 Sekunden Logik schnell pruefen</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Testparameter: 1.000 Takte pro Schritt</a:t>
            </a:r>
          </a:p>
          <a:p>
            <a:pPr>
              <a:spcAft>
                <a:spcPts val="1200"/>
              </a:spcAft>
              <a:defRPr sz="2700" b="0">
                <a:solidFill>
                  <a:srgbClr val="20272B"/>
                </a:solidFill>
                <a:latin typeface="Calibri"/>
              </a:defRPr>
            </a:pPr>
            <a:r>
              <a:t>10-ns-Testtakt; keine reale Sekunde im Test</a:t>
            </a:r>
          </a:p>
          <a:p>
            <a:pPr>
              <a:spcAft>
                <a:spcPts val="1200"/>
              </a:spcAft>
              <a:defRPr sz="2700" b="0">
                <a:solidFill>
                  <a:srgbClr val="20272B"/>
                </a:solidFill>
                <a:latin typeface="Calibri"/>
              </a:defRPr>
            </a:pPr>
            <a:r>
              <a:t>Sollwert wird an jeder Taktgrenze berechnet</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Uebertraege und Reset gezielt getestet</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Alle Zustaende 00 bis 99</a:t>
            </a:r>
          </a:p>
          <a:p>
            <a:pPr>
              <a:spcAft>
                <a:spcPts val="1200"/>
              </a:spcAft>
              <a:defRPr sz="2700" b="0">
                <a:solidFill>
                  <a:srgbClr val="20272B"/>
                </a:solidFill>
                <a:latin typeface="Calibri"/>
              </a:defRPr>
            </a:pPr>
            <a:r>
              <a:t>09 -&gt; 10 und 99 -&gt; 00</a:t>
            </a:r>
          </a:p>
          <a:p>
            <a:pPr>
              <a:spcAft>
                <a:spcPts val="1200"/>
              </a:spcAft>
              <a:defRPr sz="2700" b="0">
                <a:solidFill>
                  <a:srgbClr val="20272B"/>
                </a:solidFill>
                <a:latin typeface="Calibri"/>
              </a:defRPr>
            </a:pPr>
            <a:r>
              <a:t>Reset mitten im Intervall; voller Neustart</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Simulationsergebnis und Grenzen</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GHDL 6.0.0: alle Assertions bestanden</a:t>
            </a:r>
          </a:p>
          <a:p>
            <a:pPr>
              <a:spcAft>
                <a:spcPts val="1200"/>
              </a:spcAft>
              <a:defRPr sz="2700" b="0">
                <a:solidFill>
                  <a:srgbClr val="20272B"/>
                </a:solidFill>
                <a:latin typeface="Calibri"/>
              </a:defRPr>
            </a:pPr>
            <a:r>
              <a:t>Testende nach 1.033.690 ns</a:t>
            </a:r>
          </a:p>
          <a:p>
            <a:pPr>
              <a:spcAft>
                <a:spcPts val="1200"/>
              </a:spcAft>
              <a:defRPr sz="2700" b="0">
                <a:solidFill>
                  <a:srgbClr val="20272B"/>
                </a:solidFill>
                <a:latin typeface="Calibri"/>
              </a:defRPr>
            </a:pPr>
            <a:r>
              <a:t>Synthese, Timing und Boardmessung bleiben offen</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Boardabnahme in sinnvoller Reihenfolge</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Zuerst Phase I: Verdrahtung und Muster</a:t>
            </a:r>
          </a:p>
          <a:p>
            <a:pPr>
              <a:spcAft>
                <a:spcPts val="1200"/>
              </a:spcAft>
              <a:defRPr sz="2700" b="0">
                <a:solidFill>
                  <a:srgbClr val="20272B"/>
                </a:solidFill>
                <a:latin typeface="Calibri"/>
              </a:defRPr>
            </a:pPr>
            <a:r>
              <a:t>Dann Phase II: 00, 09 -&gt; 10, 99 -&gt; 00</a:t>
            </a:r>
          </a:p>
          <a:p>
            <a:pPr>
              <a:spcAft>
                <a:spcPts val="1200"/>
              </a:spcAft>
              <a:defRPr sz="2700" b="0">
                <a:solidFill>
                  <a:srgbClr val="20272B"/>
                </a:solidFill>
                <a:latin typeface="Calibri"/>
              </a:defRPr>
            </a:pPr>
            <a:r>
              <a:t>Reset halten und Intervallneustart beobachten</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9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607040" cy="365760"/>
          </a:xfrm>
          <a:prstGeom prst="rect">
            <a:avLst/>
          </a:prstGeom>
          <a:noFill/>
        </p:spPr>
        <p:txBody>
          <a:bodyPr wrap="square" lIns="27432" rIns="27432" tIns="18288" bIns="18288">
            <a:spAutoFit/>
          </a:bodyPr>
          <a:lstStyle/>
          <a:p>
            <a:pPr>
              <a:spcAft>
                <a:spcPts val="1200"/>
              </a:spcAft>
              <a:defRPr sz="1300" b="1">
                <a:solidFill>
                  <a:srgbClr val="007F86"/>
                </a:solidFill>
                <a:latin typeface="Calibri"/>
              </a:defRPr>
            </a:pPr>
            <a:r>
              <a:t>DIGITALE SCHALTUNGSTECHNIK / PHASE 2</a:t>
            </a:r>
          </a:p>
        </p:txBody>
      </p:sp>
      <p:sp>
        <p:nvSpPr>
          <p:cNvPr id="4" name="TextBox 3"/>
          <p:cNvSpPr txBox="1"/>
          <p:nvPr/>
        </p:nvSpPr>
        <p:spPr>
          <a:xfrm>
            <a:off x="594360" y="914400"/>
            <a:ext cx="10881360" cy="914400"/>
          </a:xfrm>
          <a:prstGeom prst="rect">
            <a:avLst/>
          </a:prstGeom>
          <a:noFill/>
        </p:spPr>
        <p:txBody>
          <a:bodyPr wrap="square" lIns="27432" rIns="27432" tIns="18288" bIns="18288">
            <a:spAutoFit/>
          </a:bodyPr>
          <a:lstStyle/>
          <a:p>
            <a:pPr>
              <a:spcAft>
                <a:spcPts val="1200"/>
              </a:spcAft>
              <a:defRPr sz="3400" b="1">
                <a:solidFill>
                  <a:srgbClr val="20272B"/>
                </a:solidFill>
                <a:latin typeface="Calibri"/>
              </a:defRPr>
            </a:pPr>
            <a:r>
              <a:t>Vom Tasterzaehler zum Wecker</a:t>
            </a:r>
          </a:p>
        </p:txBody>
      </p:sp>
      <p:sp>
        <p:nvSpPr>
          <p:cNvPr id="5" name="TextBox 4"/>
          <p:cNvSpPr txBox="1"/>
          <p:nvPr/>
        </p:nvSpPr>
        <p:spPr>
          <a:xfrm>
            <a:off x="640080" y="2011680"/>
            <a:ext cx="10607040" cy="3383280"/>
          </a:xfrm>
          <a:prstGeom prst="rect">
            <a:avLst/>
          </a:prstGeom>
          <a:noFill/>
        </p:spPr>
        <p:txBody>
          <a:bodyPr wrap="square" lIns="27432" rIns="27432" tIns="18288" bIns="18288">
            <a:spAutoFit/>
          </a:bodyPr>
          <a:lstStyle/>
          <a:p>
            <a:pPr>
              <a:spcAft>
                <a:spcPts val="1200"/>
              </a:spcAft>
              <a:defRPr sz="2700" b="0">
                <a:solidFill>
                  <a:srgbClr val="20272B"/>
                </a:solidFill>
                <a:latin typeface="Calibri"/>
              </a:defRPr>
            </a:pPr>
            <a:r>
              <a:t>Phase I: manuelles Ereignis</a:t>
            </a:r>
          </a:p>
          <a:p>
            <a:pPr>
              <a:spcAft>
                <a:spcPts val="1200"/>
              </a:spcAft>
              <a:defRPr sz="2700" b="0">
                <a:solidFill>
                  <a:srgbClr val="20272B"/>
                </a:solidFill>
                <a:latin typeface="Calibri"/>
              </a:defRPr>
            </a:pPr>
            <a:r>
              <a:t>Phase II: Sekunden-Enable und zwei Stellen</a:t>
            </a:r>
          </a:p>
          <a:p>
            <a:pPr>
              <a:spcAft>
                <a:spcPts val="1200"/>
              </a:spcAft>
              <a:defRPr sz="2700" b="0">
                <a:solidFill>
                  <a:srgbClr val="20272B"/>
                </a:solidFill>
                <a:latin typeface="Calibri"/>
              </a:defRPr>
            </a:pPr>
            <a:r>
              <a:t>Phase III: unveraenderte Weckerkopie</a:t>
            </a:r>
          </a:p>
        </p:txBody>
      </p:sp>
      <p:sp>
        <p:nvSpPr>
          <p:cNvPr id="6" name="TextBox 5"/>
          <p:cNvSpPr txBox="1"/>
          <p:nvPr/>
        </p:nvSpPr>
        <p:spPr>
          <a:xfrm>
            <a:off x="640080" y="6473952"/>
            <a:ext cx="9875520" cy="228600"/>
          </a:xfrm>
          <a:prstGeom prst="rect">
            <a:avLst/>
          </a:prstGeom>
          <a:noFill/>
        </p:spPr>
        <p:txBody>
          <a:bodyPr wrap="square" lIns="27432" rIns="27432" tIns="18288" bIns="18288">
            <a:spAutoFit/>
          </a:bodyPr>
          <a:lstStyle/>
          <a:p>
            <a:pPr>
              <a:spcAft>
                <a:spcPts val="1200"/>
              </a:spcAft>
              <a:defRPr sz="1000" b="0">
                <a:solidFill>
                  <a:srgbClr val="56646B"/>
                </a:solidFill>
                <a:latin typeface="Calibri"/>
              </a:defRPr>
            </a:pPr>
            <a:r>
              <a:t>Arty A7-35T + Pmod SSD | Laborpraesentation</a:t>
            </a:r>
          </a:p>
        </p:txBody>
      </p:sp>
      <p:sp>
        <p:nvSpPr>
          <p:cNvPr id="7" name="TextBox 6"/>
          <p:cNvSpPr txBox="1"/>
          <p:nvPr/>
        </p:nvSpPr>
        <p:spPr>
          <a:xfrm>
            <a:off x="10972800" y="6428232"/>
            <a:ext cx="594360" cy="320040"/>
          </a:xfrm>
          <a:prstGeom prst="rect">
            <a:avLst/>
          </a:prstGeom>
          <a:noFill/>
        </p:spPr>
        <p:txBody>
          <a:bodyPr wrap="square" lIns="27432" rIns="27432" tIns="18288" bIns="18288">
            <a:spAutoFit/>
          </a:bodyPr>
          <a:lstStyle/>
          <a:p>
            <a:pPr>
              <a:spcAft>
                <a:spcPts val="1200"/>
              </a:spcAft>
              <a:defRPr sz="1400" b="1">
                <a:solidFill>
                  <a:srgbClr val="C92C38"/>
                </a:solidFill>
                <a:latin typeface="Calibri"/>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